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296" y="2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366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kus_logo_cr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1792" y="502920"/>
            <a:ext cx="1867408" cy="795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1783080"/>
            <a:ext cx="104241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Guardrailed Retrieval-Augmented</a:t>
            </a:r>
            <a:endParaRPr lang="en-US" sz="3600" dirty="0"/>
          </a:p>
          <a:p>
            <a:pPr marL="0" indent="0" algn="just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Generation (RAG) System</a:t>
            </a:r>
            <a:endParaRPr lang="en-US" sz="3600" dirty="0"/>
          </a:p>
        </p:txBody>
      </p:sp>
      <p:sp>
        <p:nvSpPr>
          <p:cNvPr id="20" name="Kicker"/>
          <p:cNvSpPr/>
          <p:nvPr/>
        </p:nvSpPr>
        <p:spPr>
          <a:xfrm>
            <a:off x="640080" y="129844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Capstone Project  ·  Final Presentation</a:t>
            </a:r>
            <a:endParaRPr lang="en-US" sz="1700" b="1" dirty="0"/>
          </a:p>
        </p:txBody>
      </p:sp>
      <p:pic>
        <p:nvPicPr>
          <p:cNvPr id="22" name="Icon SUPERVISOR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0080" y="3900000"/>
            <a:ext cx="685800" cy="685800"/>
          </a:xfrm>
          <a:prstGeom prst="rect">
            <a:avLst/>
          </a:prstGeom>
        </p:spPr>
      </p:pic>
      <p:sp>
        <p:nvSpPr>
          <p:cNvPr id="23" name="Label SUPERVISOR"/>
          <p:cNvSpPr/>
          <p:nvPr/>
        </p:nvSpPr>
        <p:spPr>
          <a:xfrm>
            <a:off x="1554480" y="3940000"/>
            <a:ext cx="4500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24" name="Value SUPERVISOR"/>
          <p:cNvSpPr/>
          <p:nvPr/>
        </p:nvSpPr>
        <p:spPr>
          <a:xfrm>
            <a:off x="1554480" y="4260040"/>
            <a:ext cx="4500000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Usama Bin Haider</a:t>
            </a:r>
            <a:endParaRPr lang="en-US" sz="1500" dirty="0"/>
          </a:p>
        </p:txBody>
      </p:sp>
      <p:pic>
        <p:nvPicPr>
          <p:cNvPr id="25" name="Icon PRESENTER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37960" y="3900000"/>
            <a:ext cx="685800" cy="685800"/>
          </a:xfrm>
          <a:prstGeom prst="rect">
            <a:avLst/>
          </a:prstGeom>
        </p:spPr>
      </p:pic>
      <p:sp>
        <p:nvSpPr>
          <p:cNvPr id="26" name="Label PRESENTER"/>
          <p:cNvSpPr/>
          <p:nvPr/>
        </p:nvSpPr>
        <p:spPr>
          <a:xfrm>
            <a:off x="7452360" y="3940000"/>
            <a:ext cx="4500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27" name="Value PRESENTER"/>
          <p:cNvSpPr/>
          <p:nvPr/>
        </p:nvSpPr>
        <p:spPr>
          <a:xfrm>
            <a:off x="7452360" y="4260040"/>
            <a:ext cx="4500000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Amna Rehman  (BS-AI · 6th Semester)</a:t>
            </a:r>
            <a:endParaRPr lang="en-US" sz="1500" dirty="0"/>
          </a:p>
        </p:txBody>
      </p:sp>
      <p:pic>
        <p:nvPicPr>
          <p:cNvPr id="28" name="Icon DURATION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40080" y="5088720"/>
            <a:ext cx="685800" cy="685800"/>
          </a:xfrm>
          <a:prstGeom prst="rect">
            <a:avLst/>
          </a:prstGeom>
        </p:spPr>
      </p:pic>
      <p:sp>
        <p:nvSpPr>
          <p:cNvPr id="29" name="Label DURATION"/>
          <p:cNvSpPr/>
          <p:nvPr/>
        </p:nvSpPr>
        <p:spPr>
          <a:xfrm>
            <a:off x="1554480" y="5128720"/>
            <a:ext cx="4500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30" name="Value DURATION"/>
          <p:cNvSpPr/>
          <p:nvPr/>
        </p:nvSpPr>
        <p:spPr>
          <a:xfrm>
            <a:off x="1554480" y="5448760"/>
            <a:ext cx="4500000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10, 2026 – September 10, 2026</a:t>
            </a:r>
            <a:endParaRPr lang="en-US" sz="1500" dirty="0"/>
          </a:p>
        </p:txBody>
      </p:sp>
      <p:pic>
        <p:nvPicPr>
          <p:cNvPr id="31" name="Icon REPOSITORY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537960" y="5088720"/>
            <a:ext cx="685800" cy="685800"/>
          </a:xfrm>
          <a:prstGeom prst="rect">
            <a:avLst/>
          </a:prstGeom>
        </p:spPr>
      </p:pic>
      <p:sp>
        <p:nvSpPr>
          <p:cNvPr id="32" name="Label REPOSITORY"/>
          <p:cNvSpPr/>
          <p:nvPr/>
        </p:nvSpPr>
        <p:spPr>
          <a:xfrm>
            <a:off x="7452360" y="5128720"/>
            <a:ext cx="4500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33" name="Value REPOSITORY"/>
          <p:cNvSpPr/>
          <p:nvPr/>
        </p:nvSpPr>
        <p:spPr>
          <a:xfrm>
            <a:off x="7452360" y="5448760"/>
            <a:ext cx="4500000" cy="4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github.com/rehmanamna910-ux/AI-Foundation-Task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kus_logo_cr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82935" y="384048"/>
            <a:ext cx="960120" cy="380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&amp; Objectives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080760" y="1661161"/>
            <a:ext cx="33020" cy="184404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5212080" cy="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 algn="l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AI models don't know a company's own data.</a:t>
            </a:r>
            <a:endParaRPr lang="en-US" sz="1400" dirty="0"/>
          </a:p>
          <a:p>
            <a:pPr marL="165100" indent="-165100" algn="l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causes hallucinations and wrong answers.</a:t>
            </a:r>
            <a:endParaRPr lang="en-US" sz="1400" dirty="0"/>
          </a:p>
          <a:p>
            <a:pPr marL="165100" indent="-165100" algn="l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struggle with messy, unstructured business data.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37960" y="16002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Objective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37960" y="2194560"/>
            <a:ext cx="5120640" cy="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 algn="l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 production-ready RAG pipeline with guardrails.</a:t>
            </a:r>
            <a:endParaRPr lang="en-US" sz="1400" dirty="0"/>
          </a:p>
          <a:p>
            <a:pPr marL="165100" indent="-165100" algn="l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answers accurate and relevant.</a:t>
            </a:r>
            <a:endParaRPr lang="en-US" sz="1400" dirty="0"/>
          </a:p>
          <a:p>
            <a:pPr marL="165100" indent="-165100" algn="l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every API request secure.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kus_logo_cr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82935" y="384048"/>
            <a:ext cx="960120" cy="380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Weeks 1–4: Timeline &amp; Workflows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150876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371600" y="15087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 Setup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17720" y="150876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 up Visual Studio Code, Git and GitHub for version control, and secure .env files to store configuration safely.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065276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371600" y="2560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Pipelines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17720" y="256032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Cleaned, preprocessed, and chunked unstructured text data so it could be searched and retrieved reliably.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1065276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371600" y="36118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 Engineering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17720" y="361188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Wrote and tested system instructions and prompt variations, then scored the outputs against a rubric.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065276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48640" y="466344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371600" y="4663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Embeddings &amp; RAG Basics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17720" y="4663440"/>
            <a:ext cx="65836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Studied document chunking, embeddings, and vector search, then built a small local RAG prototype using sample documents.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kus_logo_cr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82935" y="384048"/>
            <a:ext cx="960120" cy="380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Weeks 5–8: Timeline &amp; Workflows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150876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371600" y="15087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n-US" sz="1600" b="1" dirty="0" err="1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FastAPI</a:t>
            </a:r>
            <a:r>
              <a:rPr lang="en-US" sz="1600" b="1" dirty="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 Conversion</a:t>
            </a:r>
            <a:endParaRPr lang="en-US" sz="160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617720" y="1508760"/>
            <a:ext cx="65836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28000"/>
              </a:lnSpc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the initial prototype into a robust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backend.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065276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371600" y="25603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n-US" sz="1600" b="1" dirty="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Quality, Safety &amp; Privacy</a:t>
            </a:r>
            <a:endParaRPr lang="en-US" sz="160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617720" y="2560320"/>
            <a:ext cx="65836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28000"/>
              </a:lnSpc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prototype against bad inputs and edge cases, then added guardrails and safety checks.</a:t>
            </a:r>
            <a:endParaRPr lang="en-US" sz="1400" dirty="0"/>
          </a:p>
          <a:p>
            <a:pPr marL="0" indent="0" algn="just">
              <a:lnSpc>
                <a:spcPct val="128000"/>
              </a:lnSpc>
              <a:buNone/>
            </a:pP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1065276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07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371600" y="36118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n-US" sz="1600" b="1" dirty="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Integration &amp; Team Workflow</a:t>
            </a:r>
            <a:endParaRPr lang="en-US" sz="160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617720" y="3611880"/>
            <a:ext cx="65836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28000"/>
              </a:lnSpc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backend API with client script for smooth data flow</a:t>
            </a:r>
            <a:endParaRPr lang="en-US" sz="1400" dirty="0"/>
          </a:p>
          <a:p>
            <a:pPr marL="0" indent="0" algn="just">
              <a:lnSpc>
                <a:spcPct val="128000"/>
              </a:lnSpc>
              <a:buNone/>
            </a:pP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1065276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548640" y="466344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08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371600" y="4663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n-US" sz="1600" b="1" dirty="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Finalization</a:t>
            </a:r>
            <a:endParaRPr lang="en-US" sz="1600" dirty="0"/>
          </a:p>
          <a:p>
            <a:pPr marL="0" indent="0">
              <a:buNone/>
            </a:pP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4617720" y="4663440"/>
            <a:ext cx="65836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28000"/>
              </a:lnSpc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</a:t>
            </a:r>
            <a:r>
              <a:rPr lang="en-US" sz="1400" dirty="0" err="1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docs, repo checks &amp; final slides</a:t>
            </a:r>
            <a:endParaRPr lang="en-US" sz="1400" dirty="0"/>
          </a:p>
          <a:p>
            <a:pPr marL="0" indent="0" algn="just">
              <a:lnSpc>
                <a:spcPct val="128000"/>
              </a:lnSpc>
              <a:buNone/>
            </a:pP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kus_logo_cr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82935" y="384048"/>
            <a:ext cx="960120" cy="380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RAG Architecture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157276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 Embeddings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2029968"/>
            <a:ext cx="35204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sentence-transformers (all-MiniLM-L6-v2) to turn text into embeddings for semantic search.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 flipH="1">
            <a:off x="4215384" y="1425618"/>
            <a:ext cx="0" cy="160020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4361688" y="157276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Logic — rag_core.py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61688" y="2029968"/>
            <a:ext cx="35204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document chunking, matching, and adding retrieved context to the prompt.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028432" y="1425617"/>
            <a:ext cx="0" cy="160020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174736" y="1572768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Mathematical Guardrail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174736" y="2029968"/>
            <a:ext cx="35204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Applies a cosine similarity threshold (0.35) to filter out low-relevance matches automatically.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566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ea typeface="Calibri" panose="020F0502020204030204" pitchFamily="34" charset="0"/>
                <a:cs typeface="Calibri" panose="020F0502020204030204" pitchFamily="34" charset="0"/>
              </a:rPr>
              <a:t>Pipeline Flow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02336" y="4023360"/>
            <a:ext cx="187452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57200" y="4023360"/>
            <a:ext cx="17647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endParaRPr lang="en-US" sz="1200" b="1" dirty="0"/>
          </a:p>
        </p:txBody>
      </p:sp>
      <p:sp>
        <p:nvSpPr>
          <p:cNvPr id="15" name="Text 12"/>
          <p:cNvSpPr/>
          <p:nvPr/>
        </p:nvSpPr>
        <p:spPr>
          <a:xfrm>
            <a:off x="2276856" y="4023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779776" y="4023360"/>
            <a:ext cx="187452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2834640" y="4023360"/>
            <a:ext cx="17647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Chunking</a:t>
            </a:r>
            <a:endParaRPr lang="en-US" sz="1200" b="1" dirty="0"/>
          </a:p>
        </p:txBody>
      </p:sp>
      <p:sp>
        <p:nvSpPr>
          <p:cNvPr id="18" name="Text 15"/>
          <p:cNvSpPr/>
          <p:nvPr/>
        </p:nvSpPr>
        <p:spPr>
          <a:xfrm>
            <a:off x="4654296" y="4023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157216" y="4023360"/>
            <a:ext cx="187452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5212080" y="4023360"/>
            <a:ext cx="17647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Embeddings</a:t>
            </a:r>
            <a:endParaRPr lang="en-US" sz="1200" b="1" dirty="0"/>
          </a:p>
        </p:txBody>
      </p:sp>
      <p:sp>
        <p:nvSpPr>
          <p:cNvPr id="21" name="Text 18"/>
          <p:cNvSpPr/>
          <p:nvPr/>
        </p:nvSpPr>
        <p:spPr>
          <a:xfrm>
            <a:off x="7031736" y="4023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534656" y="4023360"/>
            <a:ext cx="187452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7589520" y="4023360"/>
            <a:ext cx="17647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Similarity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Filter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409176" y="4023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912096" y="4023360"/>
            <a:ext cx="187452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9966960" y="4023360"/>
            <a:ext cx="176479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</a:t>
            </a:r>
            <a:endParaRPr lang="en-US" sz="1200" b="1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Injection</a:t>
            </a:r>
            <a:endParaRPr lang="en-US" sz="1200" b="1" dirty="0"/>
          </a:p>
        </p:txBody>
      </p:sp>
      <p:sp>
        <p:nvSpPr>
          <p:cNvPr id="27" name="Text 2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kus_logo_cr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82935" y="384048"/>
            <a:ext cx="960120" cy="380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 &amp; Input Validation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080760" y="1600200"/>
            <a:ext cx="0" cy="141732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Asynchronous Endpoints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fast, asynchronous REST APIs with FastAPI to handle real-time user queries.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37960" y="16002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Pydantic Validation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37960" y="205740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every request against strict schemas (3–300 characters) so malformed input never reaches the model.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703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Validation Flow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206240"/>
            <a:ext cx="192024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94944" y="4206240"/>
            <a:ext cx="181051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</a:t>
            </a:r>
            <a:endParaRPr lang="en-US" sz="1200" b="1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</a:t>
            </a:r>
            <a:endParaRPr lang="en-US" sz="1200" b="1" dirty="0"/>
          </a:p>
        </p:txBody>
      </p:sp>
      <p:sp>
        <p:nvSpPr>
          <p:cNvPr id="12" name="Text 9"/>
          <p:cNvSpPr/>
          <p:nvPr/>
        </p:nvSpPr>
        <p:spPr>
          <a:xfrm>
            <a:off x="2560320" y="4206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063240" y="4206240"/>
            <a:ext cx="228600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118104" y="4206240"/>
            <a:ext cx="21762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Pydantic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Schema Check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49240" y="4206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852160" y="4206240"/>
            <a:ext cx="219456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907024" y="4206240"/>
            <a:ext cx="208483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</a:t>
            </a:r>
            <a:endParaRPr lang="en-US" sz="1200" b="1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Endpoint Logic</a:t>
            </a:r>
            <a:endParaRPr lang="en-US" sz="1200" b="1" dirty="0"/>
          </a:p>
        </p:txBody>
      </p:sp>
      <p:sp>
        <p:nvSpPr>
          <p:cNvPr id="18" name="Text 15"/>
          <p:cNvSpPr/>
          <p:nvPr/>
        </p:nvSpPr>
        <p:spPr>
          <a:xfrm>
            <a:off x="8046720" y="42062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549640" y="4199467"/>
            <a:ext cx="1828800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604504" y="4206240"/>
            <a:ext cx="17190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</a:t>
            </a:r>
            <a:endParaRPr lang="en-US" sz="1200" b="1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</a:t>
            </a:r>
            <a:endParaRPr lang="en-US" sz="1200" b="1" dirty="0"/>
          </a:p>
        </p:txBody>
      </p:sp>
      <p:sp>
        <p:nvSpPr>
          <p:cNvPr id="21" name="Shape 18"/>
          <p:cNvSpPr/>
          <p:nvPr/>
        </p:nvSpPr>
        <p:spPr>
          <a:xfrm>
            <a:off x="4206240" y="4983480"/>
            <a:ext cx="0" cy="320040"/>
          </a:xfrm>
          <a:prstGeom prst="line">
            <a:avLst/>
          </a:prstGeom>
          <a:noFill/>
          <a:ln w="12700">
            <a:solidFill>
              <a:srgbClr val="7A7A7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3246120" y="5303520"/>
            <a:ext cx="19202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3246120" y="53035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422  —  Rejected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kus_logo_cr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82935" y="384048"/>
            <a:ext cx="960120" cy="380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Execution Demonstration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1245421" y="1545336"/>
            <a:ext cx="3955678" cy="2487168"/>
          </a:xfrm>
          <a:prstGeom prst="rect">
            <a:avLst/>
          </a:prstGeom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crop2_full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86197" y="1225295"/>
            <a:ext cx="4214902" cy="31272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169664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50" b="1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1450" b="1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</a:t>
            </a:r>
            <a:r>
              <a:rPr lang="en-US" sz="145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48640" y="4732020"/>
            <a:ext cx="5349240" cy="205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200" dirty="0" err="1" smtClean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Sarted</a:t>
            </a:r>
            <a:r>
              <a:rPr lang="en-US" sz="1200" dirty="0" smtClean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FastAPI server locally and watched it handle live, asynchronous requests.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058063" y="1545336"/>
            <a:ext cx="3851835" cy="2487168"/>
          </a:xfrm>
          <a:prstGeom prst="rect">
            <a:avLst/>
          </a:prstGeom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2" descr="crop1_full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09360" y="1225295"/>
            <a:ext cx="4600538" cy="31272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9360" y="4169664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450" b="1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en-US" sz="1450" b="1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 </a:t>
            </a:r>
            <a:r>
              <a:rPr lang="en-US" sz="145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Terminal Logs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214533" y="4732020"/>
            <a:ext cx="5444067" cy="195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200" dirty="0" smtClean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</a:t>
            </a:r>
            <a:r>
              <a:rPr lang="en-US" sz="12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queries, vector retrieval, and guardrail alerts shown live through the client script</a:t>
            </a:r>
            <a:r>
              <a:rPr lang="en-US" sz="11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kus_logo_cr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82935" y="384048"/>
            <a:ext cx="960120" cy="380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&amp; Debugging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080760" y="1600200"/>
            <a:ext cx="0" cy="141732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Resolution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 PowerShell directory-pathing and execution-policy issues while testing locally.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37960" y="16002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Calibration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37960" y="205740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8000"/>
              </a:lnSpc>
              <a:buNone/>
            </a:pP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Tuned the similarity threshold to 0.35 — strict enough to reject off-topic questions, loose enough to still answer valid ones.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703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</a:t>
            </a:r>
            <a:r>
              <a:rPr lang="en-US" sz="1200" b="1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Calibration</a:t>
            </a:r>
            <a:endParaRPr lang="en-US" sz="1200" dirty="0"/>
          </a:p>
        </p:txBody>
      </p:sp>
      <p:sp>
        <p:nvSpPr>
          <p:cNvPr id="40" name="Marker Label"/>
          <p:cNvSpPr/>
          <p:nvPr/>
        </p:nvSpPr>
        <p:spPr>
          <a:xfrm>
            <a:off x="3272534" y="4110000"/>
            <a:ext cx="2000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0.35 — chosen threshold</a:t>
            </a:r>
            <a:endParaRPr lang="en-US" sz="1200" dirty="0"/>
          </a:p>
        </p:txBody>
      </p:sp>
      <p:sp>
        <p:nvSpPr>
          <p:cNvPr id="41" name="Marker Triangle"/>
          <p:cNvSpPr/>
          <p:nvPr/>
        </p:nvSpPr>
        <p:spPr>
          <a:xfrm rot="10800000">
            <a:off x="4199382" y="4410000"/>
            <a:ext cx="146304" cy="164592"/>
          </a:xfrm>
          <a:prstGeom prst="triangle">
            <a:avLst/>
          </a:pr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42" name="Number Line"/>
          <p:cNvSpPr/>
          <p:nvPr/>
        </p:nvSpPr>
        <p:spPr>
          <a:xfrm>
            <a:off x="640080" y="4574592"/>
            <a:ext cx="103784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ick 0"/>
          <p:cNvSpPr/>
          <p:nvPr/>
        </p:nvSpPr>
        <p:spPr>
          <a:xfrm>
            <a:off x="640080" y="4528872"/>
            <a:ext cx="0" cy="914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ick 1"/>
          <p:cNvSpPr/>
          <p:nvPr/>
        </p:nvSpPr>
        <p:spPr>
          <a:xfrm>
            <a:off x="3234690" y="4528872"/>
            <a:ext cx="0" cy="914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ick 2"/>
          <p:cNvSpPr/>
          <p:nvPr/>
        </p:nvSpPr>
        <p:spPr>
          <a:xfrm>
            <a:off x="5829300" y="4528872"/>
            <a:ext cx="0" cy="914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ick 3"/>
          <p:cNvSpPr/>
          <p:nvPr/>
        </p:nvSpPr>
        <p:spPr>
          <a:xfrm>
            <a:off x="8423910" y="4528872"/>
            <a:ext cx="0" cy="914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ick 4"/>
          <p:cNvSpPr/>
          <p:nvPr/>
        </p:nvSpPr>
        <p:spPr>
          <a:xfrm>
            <a:off x="11018520" y="4528872"/>
            <a:ext cx="0" cy="914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ick Label 0"/>
          <p:cNvSpPr/>
          <p:nvPr/>
        </p:nvSpPr>
        <p:spPr>
          <a:xfrm>
            <a:off x="390080" y="4645000"/>
            <a:ext cx="500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0.0</a:t>
            </a:r>
            <a:endParaRPr lang="en-US" sz="1000" dirty="0"/>
          </a:p>
        </p:txBody>
      </p:sp>
      <p:sp>
        <p:nvSpPr>
          <p:cNvPr id="49" name="Tick Label 1"/>
          <p:cNvSpPr/>
          <p:nvPr/>
        </p:nvSpPr>
        <p:spPr>
          <a:xfrm>
            <a:off x="2984690" y="4645000"/>
            <a:ext cx="500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0.25</a:t>
            </a:r>
            <a:endParaRPr lang="en-US" sz="1000" dirty="0"/>
          </a:p>
        </p:txBody>
      </p:sp>
      <p:sp>
        <p:nvSpPr>
          <p:cNvPr id="50" name="Tick Label 2"/>
          <p:cNvSpPr/>
          <p:nvPr/>
        </p:nvSpPr>
        <p:spPr>
          <a:xfrm>
            <a:off x="5579300" y="4645000"/>
            <a:ext cx="500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0.5</a:t>
            </a:r>
            <a:endParaRPr lang="en-US" sz="1000" dirty="0"/>
          </a:p>
        </p:txBody>
      </p:sp>
      <p:sp>
        <p:nvSpPr>
          <p:cNvPr id="51" name="Tick Label 3"/>
          <p:cNvSpPr/>
          <p:nvPr/>
        </p:nvSpPr>
        <p:spPr>
          <a:xfrm>
            <a:off x="8173910" y="4645000"/>
            <a:ext cx="500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0.75</a:t>
            </a:r>
            <a:endParaRPr lang="en-US" sz="1000" dirty="0"/>
          </a:p>
        </p:txBody>
      </p:sp>
      <p:sp>
        <p:nvSpPr>
          <p:cNvPr id="52" name="Tick Label 4"/>
          <p:cNvSpPr/>
          <p:nvPr/>
        </p:nvSpPr>
        <p:spPr>
          <a:xfrm>
            <a:off x="10768520" y="4645000"/>
            <a:ext cx="500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1.0</a:t>
            </a:r>
            <a:endParaRPr lang="en-US" sz="1000" dirty="0"/>
          </a:p>
        </p:txBody>
      </p:sp>
      <p:sp>
        <p:nvSpPr>
          <p:cNvPr id="53" name="Caption Left"/>
          <p:cNvSpPr/>
          <p:nvPr/>
        </p:nvSpPr>
        <p:spPr>
          <a:xfrm>
            <a:off x="640080" y="4980000"/>
            <a:ext cx="4000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← </a:t>
            </a:r>
            <a:r>
              <a:rPr lang="en-US" sz="12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Stricter, more false rejections</a:t>
            </a:r>
            <a:endParaRPr lang="en-US" sz="1200" dirty="0"/>
          </a:p>
        </p:txBody>
      </p:sp>
      <p:sp>
        <p:nvSpPr>
          <p:cNvPr id="54" name="Caption Right"/>
          <p:cNvSpPr/>
          <p:nvPr/>
        </p:nvSpPr>
        <p:spPr>
          <a:xfrm>
            <a:off x="7018520" y="4980000"/>
            <a:ext cx="4000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Looser, more hallucination risk </a:t>
            </a: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kus_logo_cro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682935" y="384048"/>
            <a:ext cx="960120" cy="380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27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Deliverables &amp; Future Scope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080760" y="1600200"/>
            <a:ext cx="0" cy="370332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Artifacts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main.py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42616"/>
            <a:ext cx="51206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2752344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rag_core.py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51206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48640" y="326440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client_demo.py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666744"/>
            <a:ext cx="51206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48640" y="377647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test_report.md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178808"/>
            <a:ext cx="51206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548640" y="4288536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0"/>
                <a:cs typeface="Courier New" pitchFamily="34" charset="0"/>
              </a:rPr>
              <a:t>README.md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690872"/>
            <a:ext cx="512064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537960" y="16002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37960" y="2240280"/>
            <a:ext cx="5120640" cy="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65100" indent="-165100" algn="just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40404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Scale the vector database for larger enterprise datasets.</a:t>
            </a:r>
            <a:endParaRPr lang="en-US" sz="1400" dirty="0"/>
          </a:p>
          <a:p>
            <a:pPr marL="165100" indent="-165100" algn="just">
              <a:lnSpc>
                <a:spcPct val="115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40404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Add multi-turn chat memory to the backend pipeline</a:t>
            </a:r>
            <a:r>
              <a:rPr lang="en-US" sz="1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/>
          </a:p>
        </p:txBody>
      </p:sp>
      <p:pic>
        <p:nvPicPr>
          <p:cNvPr id="21" name="Icon REPO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88000" y="4572020"/>
            <a:ext cx="320000" cy="320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28000" y="4480560"/>
            <a:ext cx="438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github.com/rehmanamna910-ux/AI-Foundation-Task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A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549</Words>
  <Application>Microsoft Office PowerPoint</Application>
  <PresentationFormat>Custom</PresentationFormat>
  <Paragraphs>132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DUBAI LAPTOP</cp:lastModifiedBy>
  <cp:revision>6</cp:revision>
  <dcterms:created xsi:type="dcterms:W3CDTF">2026-08-21T09:24:56Z</dcterms:created>
  <dcterms:modified xsi:type="dcterms:W3CDTF">2026-08-22T09:08:32Z</dcterms:modified>
</cp:coreProperties>
</file>